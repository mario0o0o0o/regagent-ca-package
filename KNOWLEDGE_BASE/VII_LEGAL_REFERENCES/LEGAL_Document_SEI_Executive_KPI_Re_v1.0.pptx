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3961" y="802299"/>
            <a:ext cx="8634824" cy="2920713"/>
          </a:xfrm>
        </p:spPr>
        <p:txBody>
          <a:bodyPr bIns="0" anchor="b">
            <a:normAutofit/>
          </a:bodyPr>
          <a:lstStyle>
            <a:lvl1pPr algn="ctr">
              <a:defRPr sz="6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3962" y="3724075"/>
            <a:ext cx="8634823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799" b="0" cap="all" baseline="0">
                <a:solidFill>
                  <a:schemeClr val="tx1"/>
                </a:solidFill>
              </a:defRPr>
            </a:lvl1pPr>
            <a:lvl2pPr marL="457063" indent="0" algn="ctr">
              <a:buNone/>
              <a:defRPr sz="17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201" y="329308"/>
            <a:ext cx="5625309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710" y="798973"/>
            <a:ext cx="810808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45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2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3961" y="1756131"/>
            <a:ext cx="8640903" cy="1969007"/>
          </a:xfrm>
        </p:spPr>
        <p:txBody>
          <a:bodyPr anchor="b">
            <a:normAutofit/>
          </a:bodyPr>
          <a:lstStyle>
            <a:lvl1pPr algn="ctr"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3961" y="3725138"/>
            <a:ext cx="8640903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202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840" y="804890"/>
            <a:ext cx="9291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6954" y="2010879"/>
            <a:ext cx="4487485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2511" y="2017343"/>
            <a:ext cx="4487485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815" y="804164"/>
            <a:ext cx="9293182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6814" y="2019550"/>
            <a:ext cx="4487625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199" b="0" cap="all" baseline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6814" y="2824270"/>
            <a:ext cx="4487625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4396" y="2023004"/>
            <a:ext cx="4487625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199" b="0" cap="all" baseline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4396" y="2821491"/>
            <a:ext cx="4487625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94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28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295" y="798973"/>
            <a:ext cx="2961196" cy="2406518"/>
          </a:xfrm>
        </p:spPr>
        <p:txBody>
          <a:bodyPr anchor="b">
            <a:normAutofit/>
          </a:bodyPr>
          <a:lstStyle>
            <a:lvl1pPr algn="l">
              <a:defRPr sz="2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9092" y="798974"/>
            <a:ext cx="6010904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295" y="3205492"/>
            <a:ext cx="2961196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018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5440" y="482171"/>
            <a:ext cx="4073472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0828" y="1129513"/>
            <a:ext cx="5530887" cy="1922299"/>
          </a:xfrm>
        </p:spPr>
        <p:txBody>
          <a:bodyPr anchor="b">
            <a:normAutofit/>
          </a:bodyPr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2274" y="1122543"/>
            <a:ext cx="2790444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199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9951" y="3059600"/>
            <a:ext cx="5522965" cy="2090134"/>
          </a:xfrm>
        </p:spPr>
        <p:txBody>
          <a:bodyPr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005" y="5469857"/>
            <a:ext cx="5525912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005" y="318641"/>
            <a:ext cx="5539561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9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8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675" y="798974"/>
            <a:ext cx="1615321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296" y="798974"/>
            <a:ext cx="7516696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33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202" y="804520"/>
            <a:ext cx="928879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202" y="2015733"/>
            <a:ext cx="928879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0194" y="330370"/>
            <a:ext cx="3499803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201" y="329308"/>
            <a:ext cx="562530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9935" y="798973"/>
            <a:ext cx="810808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799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88825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88825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88825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9222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126" rtl="0" eaLnBrk="1" latinLnBrk="0" hangingPunct="1">
        <a:lnSpc>
          <a:spcPct val="90000"/>
        </a:lnSpc>
        <a:spcBef>
          <a:spcPct val="0"/>
        </a:spcBef>
        <a:buNone/>
        <a:defRPr sz="3199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99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799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3961" y="802299"/>
            <a:ext cx="7525487" cy="1758021"/>
          </a:xfrm>
        </p:spPr>
        <p:txBody>
          <a:bodyPr>
            <a:noAutofit/>
          </a:bodyPr>
          <a:lstStyle/>
          <a:p>
            <a:r>
              <a:rPr sz="4800" dirty="0"/>
              <a:t>SEI Executive KPI Report – High-Level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Prepared for Executive Leadership</a:t>
            </a:r>
          </a:p>
          <a:p>
            <a:r>
              <a:rPr dirty="0"/>
              <a:t>Prepared by H</a:t>
            </a:r>
            <a:r>
              <a:rPr lang="en-US" dirty="0"/>
              <a:t>uman resources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Industry Benchmark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186416" cy="4525963"/>
          </a:xfrm>
        </p:spPr>
        <p:txBody>
          <a:bodyPr>
            <a:noAutofit/>
          </a:bodyPr>
          <a:lstStyle/>
          <a:p>
            <a:r>
              <a:rPr sz="2400" dirty="0"/>
              <a:t>Technical / Junior Consultants: 75–85% utilization (non-billable dev time allowed)</a:t>
            </a:r>
          </a:p>
          <a:p>
            <a:r>
              <a:rPr sz="2400" dirty="0"/>
              <a:t>Mid-Level Consultants / PMs: 75–90% (higher client responsibility, some internal work)</a:t>
            </a:r>
          </a:p>
          <a:p>
            <a:r>
              <a:rPr sz="2400" dirty="0"/>
              <a:t>Senior Leaders / Partners: 40–75% (strategic &amp; business development focus)</a:t>
            </a:r>
          </a:p>
          <a:p>
            <a:r>
              <a:rPr sz="2400" dirty="0"/>
              <a:t>Firm Averages: 65–80% (balance revenue + growth)</a:t>
            </a:r>
          </a:p>
          <a:p>
            <a:r>
              <a:rPr sz="2400" dirty="0"/>
              <a:t>Role-specific ranges increase transparency and employee buy-in</a:t>
            </a:r>
          </a:p>
          <a:p>
            <a:r>
              <a:rPr sz="2400" dirty="0"/>
              <a:t>Goldilocks Zone (2025 benchmark): 70–80% chargeability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KPI Chargeability Overview</a:t>
            </a:r>
          </a:p>
        </p:txBody>
      </p:sp>
      <p:pic>
        <p:nvPicPr>
          <p:cNvPr id="3" name="Picture 2" descr="kpi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KPI Balance Radar Chart</a:t>
            </a:r>
          </a:p>
        </p:txBody>
      </p:sp>
      <p:pic>
        <p:nvPicPr>
          <p:cNvPr id="3" name="Picture 2" descr="kpi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1563624"/>
            <a:ext cx="4407408" cy="44074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Equity Heatmap</a:t>
            </a:r>
          </a:p>
        </p:txBody>
      </p:sp>
      <p:pic>
        <p:nvPicPr>
          <p:cNvPr id="3" name="Picture 2" descr="equ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1234440"/>
            <a:ext cx="6492240" cy="48691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KPI Implementation Timeline</a:t>
            </a:r>
          </a:p>
        </p:txBody>
      </p:sp>
      <p:pic>
        <p:nvPicPr>
          <p:cNvPr id="3" name="Picture 2" descr="gant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872984" cy="4114799"/>
          </a:xfrm>
        </p:spPr>
        <p:txBody>
          <a:bodyPr>
            <a:normAutofit fontScale="92500"/>
          </a:bodyPr>
          <a:lstStyle/>
          <a:p>
            <a:endParaRPr dirty="0"/>
          </a:p>
          <a:p>
            <a:r>
              <a:rPr dirty="0"/>
              <a:t>✅ High-level KPI formula ensures fairness by adjusting for protected &amp; company leaves</a:t>
            </a:r>
          </a:p>
          <a:p>
            <a:r>
              <a:rPr dirty="0"/>
              <a:t>✅ Role-specific targets balance profitability &amp; employee expectations</a:t>
            </a:r>
          </a:p>
          <a:p>
            <a:r>
              <a:rPr dirty="0"/>
              <a:t>✅ Broader KPIs complement chargeability (e.g., project margin, realization rate)</a:t>
            </a:r>
          </a:p>
          <a:p>
            <a:r>
              <a:rPr dirty="0"/>
              <a:t>✅ Equity &amp; compliance audits mitigate risk and support defensible decision-making</a:t>
            </a:r>
          </a:p>
          <a:p>
            <a:r>
              <a:rPr dirty="0"/>
              <a:t>✅ Time tracking and dashboards ensure transparency &amp; actionable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</TotalTime>
  <Words>174</Words>
  <Application>Microsoft Office PowerPoint</Application>
  <PresentationFormat>Custom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Rockwell</vt:lpstr>
      <vt:lpstr>Gallery</vt:lpstr>
      <vt:lpstr>SEI Executive KPI Report – High-Level Overview</vt:lpstr>
      <vt:lpstr>1. Industry Benchmark Intelligence</vt:lpstr>
      <vt:lpstr>2. KPI Chargeability Overview</vt:lpstr>
      <vt:lpstr>3. KPI Balance Radar Chart</vt:lpstr>
      <vt:lpstr>4. Equity Heatmap</vt:lpstr>
      <vt:lpstr>5. KPI Implementation Timeline</vt:lpstr>
      <vt:lpstr>6. Executive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Mario Espindola</cp:lastModifiedBy>
  <cp:revision>2</cp:revision>
  <dcterms:created xsi:type="dcterms:W3CDTF">2013-01-27T09:14:16Z</dcterms:created>
  <dcterms:modified xsi:type="dcterms:W3CDTF">2026-01-12T20:08:54Z</dcterms:modified>
  <cp:category/>
</cp:coreProperties>
</file>